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280160"/>
            <a:ext cx="2194560" cy="82296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9418320" y="2103120"/>
            <a:ext cx="1188720" cy="173736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3840480"/>
            <a:ext cx="2011680" cy="109728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961120" y="3840480"/>
            <a:ext cx="457200" cy="155448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412480" y="822960"/>
            <a:ext cx="2468880" cy="45720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12344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0561320" y="205740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379476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1384280" y="489204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Shape 9"/>
          <p:cNvSpPr/>
          <p:nvPr/>
        </p:nvSpPr>
        <p:spPr>
          <a:xfrm>
            <a:off x="8915400" y="53492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35640" y="77724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2020 — 2026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18288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Evolution of AI Agents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502920" y="39776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crafting the perfect prompt, to engineering the right context, to building the harness that lets agents act.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" y="521208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161B22"/>
          </a:solidFill>
          <a:ln w="12700">
            <a:solidFill>
              <a:srgbClr val="1C23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52120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Prompt Engineering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521208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66160" y="521208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161B22"/>
          </a:solidFill>
          <a:ln w="12700">
            <a:solidFill>
              <a:srgbClr val="1C23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52120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Context Engineering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521208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29400" y="521208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52120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Harness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eras of agent engineering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3544824" cy="3931920"/>
          </a:xfrm>
          <a:prstGeom prst="roundRect">
            <a:avLst>
              <a:gd name="adj" fmla="val 258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42316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2020 – 2023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GPT-3 few-shot demos</a:t>
            </a:r>
            <a:endParaRPr lang="en-US" sz="140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Chain-of-Thought (2022)</a:t>
            </a:r>
            <a:endParaRPr lang="en-US" sz="140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ReAct: reason + act (2022)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507492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is fixed; you steer it with words.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2064" y="2148840"/>
            <a:ext cx="3544824" cy="3931920"/>
          </a:xfrm>
          <a:prstGeom prst="roundRect">
            <a:avLst>
              <a:gd name="adj" fmla="val 258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6384" y="242316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 – 2025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6384" y="2743200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Engineering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96384" y="333756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goes mainstream</a:t>
            </a:r>
            <a:endParaRPr lang="en-US" sz="140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calling &amp; tools</a:t>
            </a:r>
            <a:endParaRPr lang="en-US" sz="140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&amp; MCP (2024–25)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6384" y="507492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is fixed; you feed it the right information.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41208" y="2148840"/>
            <a:ext cx="3544824" cy="3931920"/>
          </a:xfrm>
          <a:prstGeom prst="roundRect">
            <a:avLst>
              <a:gd name="adj" fmla="val 258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5528" y="2423160"/>
            <a:ext cx="29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 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5528" y="2743200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 Engineering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5528" y="333756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AutoGPT-era autonomy</a:t>
            </a:r>
            <a:endParaRPr lang="en-US" sz="140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frameworks mature</a:t>
            </a:r>
            <a:endParaRPr lang="en-US" sz="140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OpenClaw, ACP-based agents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5528" y="507492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build the loop the agent runs in.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1691640"/>
            <a:ext cx="11183112" cy="0"/>
          </a:xfrm>
          <a:prstGeom prst="line">
            <a:avLst/>
          </a:prstGeom>
          <a:noFill/>
          <a:ln w="38100">
            <a:solidFill>
              <a:srgbClr val="1C23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4476" y="1609344"/>
            <a:ext cx="164592" cy="164592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1837944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  2020–2023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12180" y="1609344"/>
            <a:ext cx="164592" cy="164592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30624" y="1837944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Engineering  2023–2025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39884" y="1609344"/>
            <a:ext cx="164592" cy="164592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8328" y="1837944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 Engineering  2025 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01 · PROMPT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Talk to the model until it behaves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2020 — GPT-3 shows prompt design beats fine-tuning for many tasks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2021 — prompt patterns spread via APIs and community playbooks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 — research formalizes it: CoT, self-consistency, instruction tuning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47091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C233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091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“This is a conversation with a model.”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entire interface is one text box.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techniques — a layered stack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7360920" cy="868680"/>
          </a:xfrm>
          <a:prstGeom prst="roundRect">
            <a:avLst>
              <a:gd name="adj" fmla="val 7368"/>
            </a:avLst>
          </a:prstGeom>
          <a:solidFill>
            <a:srgbClr val="161B22"/>
          </a:solidFill>
          <a:ln w="12700">
            <a:solidFill>
              <a:srgbClr val="1C23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26771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257800" y="2286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&amp; instruction prompts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26517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persona, constraints, output format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3218688"/>
            <a:ext cx="7360920" cy="868680"/>
          </a:xfrm>
          <a:prstGeom prst="roundRect">
            <a:avLst>
              <a:gd name="adj" fmla="val 7368"/>
            </a:avLst>
          </a:prstGeom>
          <a:solidFill>
            <a:srgbClr val="161B22"/>
          </a:solidFill>
          <a:ln w="12700">
            <a:solidFill>
              <a:srgbClr val="1C23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32918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257800" y="331012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Zero-shot / few-shot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7800" y="36758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examples instead of training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4242816"/>
            <a:ext cx="7360920" cy="868680"/>
          </a:xfrm>
          <a:prstGeom prst="roundRect">
            <a:avLst>
              <a:gd name="adj" fmla="val 7368"/>
            </a:avLst>
          </a:prstGeom>
          <a:solidFill>
            <a:srgbClr val="1C23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431596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257800" y="433425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Chain-of-Thought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57800" y="470001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“Think step by step” — decompose reasoning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5266944"/>
            <a:ext cx="7360920" cy="868680"/>
          </a:xfrm>
          <a:prstGeom prst="roundRect">
            <a:avLst>
              <a:gd name="adj" fmla="val 7368"/>
            </a:avLst>
          </a:prstGeom>
          <a:solidFill>
            <a:srgbClr val="161B22"/>
          </a:solidFill>
          <a:ln w="12700">
            <a:solidFill>
              <a:srgbClr val="1C23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5340096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257800" y="535838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Self-consistency &amp; structured output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57800" y="572414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 many paths, force JSON/schema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1481328"/>
            <a:ext cx="11183112" cy="0"/>
          </a:xfrm>
          <a:prstGeom prst="line">
            <a:avLst/>
          </a:prstGeom>
          <a:noFill/>
          <a:ln w="38100">
            <a:solidFill>
              <a:srgbClr val="1C23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4476" y="1399032"/>
            <a:ext cx="164592" cy="164592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12180" y="1399032"/>
            <a:ext cx="164592" cy="164592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30624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Engineering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739884" y="1399032"/>
            <a:ext cx="164592" cy="164592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8328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01 · PROMPT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words run 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502920" cy="502920"/>
          </a:xfrm>
          <a:prstGeom prst="ellipse">
            <a:avLst/>
          </a:prstGeom>
          <a:solidFill>
            <a:srgbClr val="1C233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2057400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Fragile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34440" y="2441448"/>
            <a:ext cx="4448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phrasing tweak shifts accuracy by double digits; prompts break silently when models update.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05956" y="2103120"/>
            <a:ext cx="502920" cy="502920"/>
          </a:xfrm>
          <a:prstGeom prst="ellipse">
            <a:avLst/>
          </a:prstGeom>
          <a:solidFill>
            <a:srgbClr val="1C233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5956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237476" y="2057400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memory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237476" y="2441448"/>
            <a:ext cx="4448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conversation starts from zero — nothing is learned or carried forward.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886200"/>
            <a:ext cx="502920" cy="502920"/>
          </a:xfrm>
          <a:prstGeom prst="ellipse">
            <a:avLst/>
          </a:prstGeom>
          <a:solidFill>
            <a:srgbClr val="1C233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840480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tools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34440" y="4224528"/>
            <a:ext cx="4448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can reason about the world but cannot read a file, call an API, or act.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05956" y="3886200"/>
            <a:ext cx="502920" cy="502920"/>
          </a:xfrm>
          <a:prstGeom prst="ellipse">
            <a:avLst/>
          </a:prstGeom>
          <a:solidFill>
            <a:srgbClr val="1C233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5956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37476" y="3840480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ceiling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237476" y="4224528"/>
            <a:ext cx="44485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must fit in one window: long documents and large codebases simply don't.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5623560"/>
            <a:ext cx="11183112" cy="0"/>
          </a:xfrm>
          <a:prstGeom prst="line">
            <a:avLst/>
          </a:prstGeom>
          <a:noFill/>
          <a:ln w="12700">
            <a:solidFill>
              <a:srgbClr val="1C23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80644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next move: </a:t>
            </a:r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optimizing the question — start engineering what the model sees.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02920" y="1481328"/>
            <a:ext cx="11183112" cy="0"/>
          </a:xfrm>
          <a:prstGeom prst="line">
            <a:avLst/>
          </a:prstGeom>
          <a:noFill/>
          <a:ln w="38100">
            <a:solidFill>
              <a:srgbClr val="1C23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4476" y="1399032"/>
            <a:ext cx="164592" cy="164592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12180" y="1399032"/>
            <a:ext cx="164592" cy="164592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30624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Engineering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739884" y="1399032"/>
            <a:ext cx="164592" cy="164592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8328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02 · CONTEXT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is only as good as what it sees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fills the context window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91440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8600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417320" y="2286000"/>
            <a:ext cx="1828800" cy="960120"/>
          </a:xfrm>
          <a:prstGeom prst="rect">
            <a:avLst/>
          </a:prstGeom>
          <a:solidFill>
            <a:srgbClr val="2DD4BF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2860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docs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2286000"/>
            <a:ext cx="1188720" cy="960120"/>
          </a:xfrm>
          <a:prstGeom prst="rect">
            <a:avLst/>
          </a:prstGeom>
          <a:solidFill>
            <a:srgbClr val="14B8A6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28600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2286000"/>
            <a:ext cx="155448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22860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&amp; results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89320" y="2286000"/>
            <a:ext cx="822960" cy="960120"/>
          </a:xfrm>
          <a:prstGeom prst="rect">
            <a:avLst/>
          </a:prstGeom>
          <a:solidFill>
            <a:srgbClr val="64748B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22860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turn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33832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 tunes the first slice — context engineering designs the whole window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0" y="20116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128K → 1M+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7589520" y="29718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of context in frontier models (2023 → 2025). Bigger windows made managing what goes in — and what stays out — the core discipline.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709160"/>
            <a:ext cx="11183112" cy="0"/>
          </a:xfrm>
          <a:prstGeom prst="line">
            <a:avLst/>
          </a:prstGeom>
          <a:noFill/>
          <a:ln w="12700">
            <a:solidFill>
              <a:srgbClr val="1C23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937760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shift: </a:t>
            </a:r>
            <a:pPr indent="0" marL="0">
              <a:buNone/>
            </a:pPr>
            <a:r>
              <a:rPr lang="en-US" sz="17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unit of design is no longer the prompt — it is everything the model can see at decision time, and the pipeline that assembles it.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02920" y="1481328"/>
            <a:ext cx="11183112" cy="0"/>
          </a:xfrm>
          <a:prstGeom prst="line">
            <a:avLst/>
          </a:prstGeom>
          <a:noFill/>
          <a:ln w="38100">
            <a:solidFill>
              <a:srgbClr val="1C23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4476" y="1399032"/>
            <a:ext cx="164592" cy="164592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12180" y="1399032"/>
            <a:ext cx="164592" cy="164592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30624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Engineering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39884" y="1399032"/>
            <a:ext cx="164592" cy="164592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8328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02 · CONTEXT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technologies carry the era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C233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935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a knowledge base, retrieve the relevant chunks at query time, and ground answers in cited sources — the fix for stale, hallucinated knowledge.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52544" y="182880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6864" y="21031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C2330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6864" y="278892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 &amp; long-term state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26864" y="3429000"/>
            <a:ext cx="2935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 summaries, vector recall of past interactions, and scratchpads let an agent persist learning across sessions instead of restarting from zero.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02168" y="182880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6488" y="21031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C2330"/>
          </a:solidFill>
          <a:ln/>
        </p:spPr>
      </p:sp>
      <p:sp>
        <p:nvSpPr>
          <p:cNvPr id="16" name="Text 14"/>
          <p:cNvSpPr/>
          <p:nvPr/>
        </p:nvSpPr>
        <p:spPr>
          <a:xfrm>
            <a:off x="8476488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Use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76488" y="278892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calling &amp; MCP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76488" y="3429000"/>
            <a:ext cx="2935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Models invoke APIs, run code, and search the web. The Model Context Protocol (2024) standardizes how models discover and call external tools.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08076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Together they turn a static chatbot into a system that knows things, remembers things, and does things.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1481328"/>
            <a:ext cx="11183112" cy="0"/>
          </a:xfrm>
          <a:prstGeom prst="line">
            <a:avLst/>
          </a:prstGeom>
          <a:noFill/>
          <a:ln w="38100">
            <a:solidFill>
              <a:srgbClr val="1C23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4476" y="1399032"/>
            <a:ext cx="164592" cy="164592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12180" y="1399032"/>
            <a:ext cx="164592" cy="164592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30624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Engineering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39884" y="1399032"/>
            <a:ext cx="164592" cy="164592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8328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03 · HARNESS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the loop the agent runs 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0"/>
          </a:xfrm>
          <a:prstGeom prst="line">
            <a:avLst/>
          </a:prstGeom>
          <a:noFill/>
          <a:ln w="38100">
            <a:solidFill>
              <a:srgbClr val="1C23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4476" y="1399032"/>
            <a:ext cx="164592" cy="164592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12180" y="1399032"/>
            <a:ext cx="164592" cy="164592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30624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Engineering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739884" y="1399032"/>
            <a:ext cx="164592" cy="164592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8328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harness is the scaffolding around the model: the planner, the tool registry, the memory store, the guardrails, and the controller that keeps the loop alive.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1956816" cy="105156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12700">
            <a:solidFill>
              <a:srgbClr val="1C23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0720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22783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intent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59736" y="269748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25496" y="2697480"/>
            <a:ext cx="1956816" cy="105156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12700">
            <a:solidFill>
              <a:srgbClr val="1C23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25496" y="280720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25496" y="322783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decompose tasks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2312" y="269748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48072" y="2697480"/>
            <a:ext cx="1956816" cy="105156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12700">
            <a:solidFill>
              <a:srgbClr val="1C23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8072" y="280720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48072" y="322783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tools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04888" y="269748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470648" y="2697480"/>
            <a:ext cx="1956816" cy="1051560"/>
          </a:xfrm>
          <a:prstGeom prst="roundRect">
            <a:avLst>
              <a:gd name="adj" fmla="val 7826"/>
            </a:avLst>
          </a:prstGeom>
          <a:solidFill>
            <a:srgbClr val="161B22"/>
          </a:solidFill>
          <a:ln w="12700">
            <a:solidFill>
              <a:srgbClr val="1C23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0648" y="280720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70648" y="322783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results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427464" y="269748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793224" y="2697480"/>
            <a:ext cx="1956816" cy="1051560"/>
          </a:xfrm>
          <a:prstGeom prst="roundRect">
            <a:avLst>
              <a:gd name="adj" fmla="val 7826"/>
            </a:avLst>
          </a:prstGeom>
          <a:solidFill>
            <a:srgbClr val="1C23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93224" y="280720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Reflect &amp; loop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93224" y="322783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retry / refine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771632" y="3749040"/>
            <a:ext cx="0" cy="4114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81328" y="4160520"/>
            <a:ext cx="929030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arrow"/>
          </a:ln>
        </p:spPr>
      </p:sp>
      <p:sp>
        <p:nvSpPr>
          <p:cNvPr id="33" name="Text 31"/>
          <p:cNvSpPr/>
          <p:nvPr/>
        </p:nvSpPr>
        <p:spPr>
          <a:xfrm>
            <a:off x="2788920" y="4270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iteration until done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milestones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02920" y="5212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02920" y="555040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LangChain, LlamaIndex — chained prompts &amp; tools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352544" y="5212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2023–24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352544" y="555040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function calling; multi-agent frameworks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02168" y="5212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2024–25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202168" y="555040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standardizes tool access for every harness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03 · HARNESS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Representative agents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4884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AutoGPT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 · open source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9352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viral autonomous agent: give it a goal, and it plans, browses, and executes in a loop. Demoed the idea — and the reliability limits — of full autonomy.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52544" y="182880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26864" y="214884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ACPAgent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626864" y="269748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 · protocol-based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26864" y="3154680"/>
            <a:ext cx="29352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the Agent Client Protocol: agents that interoperate across clients and editors through a standard handshake, rather than one-off integrations.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02168" y="1828800"/>
            <a:ext cx="3483864" cy="3977640"/>
          </a:xfrm>
          <a:prstGeom prst="roundRect">
            <a:avLst>
              <a:gd name="adj" fmla="val 2625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76488" y="214884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OpenClaw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476488" y="269748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 · open source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76488" y="3154680"/>
            <a:ext cx="29352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personal AI assistant harness that runs locally and connects to messages, tools, and workflows — agents as always-on software you own and extend.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08076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common thread: value moved from the prompt, through the context, into the system around the model.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1481328"/>
            <a:ext cx="11183112" cy="0"/>
          </a:xfrm>
          <a:prstGeom prst="line">
            <a:avLst/>
          </a:prstGeom>
          <a:noFill/>
          <a:ln w="38100">
            <a:solidFill>
              <a:srgbClr val="1C23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4476" y="1399032"/>
            <a:ext cx="164592" cy="164592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12180" y="1399032"/>
            <a:ext cx="164592" cy="164592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30624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Engineering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739884" y="1399032"/>
            <a:ext cx="164592" cy="164592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8328" y="1627632"/>
            <a:ext cx="372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920240"/>
            <a:ext cx="11183112" cy="0"/>
          </a:xfrm>
          <a:prstGeom prst="line">
            <a:avLst/>
          </a:prstGeom>
          <a:noFill/>
          <a:ln w="25400">
            <a:solidFill>
              <a:srgbClr val="1C23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93036" y="1837944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286000"/>
            <a:ext cx="3544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2020–2023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3544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3108960"/>
            <a:ext cx="3544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 ask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12180" y="1837944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4322064" y="2286000"/>
            <a:ext cx="3544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2023–2025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22064" y="2651760"/>
            <a:ext cx="3544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22064" y="3108960"/>
            <a:ext cx="3544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model sees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831324" y="183794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8141208" y="2286000"/>
            <a:ext cx="3544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 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41208" y="2651760"/>
            <a:ext cx="3544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41208" y="3108960"/>
            <a:ext cx="3544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agent lives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11480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era didn't replace the last — it wrapped it.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011680" y="5120640"/>
            <a:ext cx="8165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BA7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prompts still matter. Good context still matters. But the frontier is now the harness: the loop, tools, memory, and guardrails that turn a model into an agent.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AI Agents</dc:title>
  <dc:subject>PptxGenJS Presentation</dc:subject>
  <dc:creator>ZCode</dc:creator>
  <cp:lastModifiedBy>ZCode</cp:lastModifiedBy>
  <cp:revision>1</cp:revision>
  <dcterms:created xsi:type="dcterms:W3CDTF">2026-09-15T02:47:58Z</dcterms:created>
  <dcterms:modified xsi:type="dcterms:W3CDTF">2026-09-15T02:47:58Z</dcterms:modified>
</cp:coreProperties>
</file>